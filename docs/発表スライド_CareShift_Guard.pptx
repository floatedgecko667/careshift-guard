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30秒。名乗りと一行の価値提案のみ。『シフト作成ツールではなく、減算を防ぐ仕組み』と言い切る。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40秒。30%と480万円の2つの数字だけを言う。『事故ではなく、シフトの組み方で防げる損失』が要点。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40秒。この1枚が差別化の核心。『月次では適合、日別では8件違反。同じデータです』と言う。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30秒。4ステップを指で追いながら。最後の『確定できない』は設計判断として強調する。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30秒。赤いセルを指して『この日は生活相談員が0.5、基準1.0に対して不足』と具体的に言う。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30秒。『数式で書いてあるので担当者がその場で検算できる』が要点。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25秒。指定要件は『いずれか1つ以上』。2項目を充足していると述べる。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35秒。ここは自信を持って言い切る。『流行だから使う』ではなく『使わない理由を説明できる』ことを示す。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40秒。損益分岐4事業所を強調。『補助金も無料枠も前提にしていない』と明言する。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35秒。『導入しない理由を説明するほうが難しい水準』と締める。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30秒。『ローカルで動かしただけではない』ことを示す。アドレスバーのIPを指す。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25秒。3段階の成長を一言ずつ。URLを示して終わる。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CareShift Guard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48640" y="2788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介護事業所向け　人員配置基準チェック内蔵 シフト自動作成クラウド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33101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シフト作成を楽にする道具ではありません。人員基準欠如減算という経営リスクを未然に防ぐ仕組みです。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2976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  <a:effectLst>
            <a:outerShdw sx="100000" sy="100000" kx="0" ky="0" algn="bl" rotWithShape="0" blurRad="76200" dist="381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44348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リポジトリ　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https://github.com/FloatedGecko667/careshift-guard</a:t>
            </a:r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紹介動画　　　　　　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（紹介動画URL：撮影後に差し替え）</a:t>
            </a:r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デモ環境　　　　　　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（デモ環境URL：デプロイ後に差し替え）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クラウドプラットフォーム実習Ⅱ　最終レポート　2026年度　学籍番号 20122049　曽我 幸太郎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解決する課題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人員基準欠如減算は、事故ではなく運用で防げる損失です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76200" dist="381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▲30%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68680" y="26426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人員基準を満たさないと、基本報酬が30パーセント減算される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0" y="155448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76200" dist="381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20840" y="17830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480万円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720840" y="264261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月商800万円の事業所で2か月継続した場合の逸失収益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78992" y="391363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減算は利用者全員に適用される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0" y="391363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一部ではなく事業所の全報酬が対象になる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49884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78992" y="44805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欠如の翌月または翌々月から解消月まで続く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0" y="448056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気づくのが遅れるほど損失が積み上がる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065776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065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78992" y="504748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原因の多くは急な退職や欠勤への対応の遅れ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0" y="504748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シフトを組む段階で監視できていれば防げる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なぜ現場は気づけないのか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月次の集計では「適合」に見える。違反は日単位で起きています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76200" dist="381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10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月次の常勤換算だけを見た場合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生活相談員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0" y="22860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/ 1.0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63440" y="228600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7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67004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看護職員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2670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/ 1.0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3440" y="267004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7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305409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介護職員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305409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 / 2.4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305409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7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343814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機能訓練指導員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343814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/ 1.0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63440" y="343814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7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4069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全職種が基準を満たしている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1600200"/>
            <a:ext cx="5303520" cy="3108960"/>
          </a:xfrm>
          <a:prstGeom prst="roundRect">
            <a:avLst>
              <a:gd name="adj" fmla="val 2353"/>
            </a:avLst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76200" dist="381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29400" y="1810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同じ月を日別に見た場合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29400" y="22860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8件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6629400" y="314553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人員配置基準の違反を検出（同一月・同一データ）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29400" y="37033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機能訓練指導員が2名しかいないため、両名が休む日に配置数が0になる。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9834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98348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この乖離の可視化が本ソリューションの中核です。既存ツールは月次集計しか示しません。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提供する機能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価値の連鎖が1本通ることを最優先に、初版は5画面に絞りました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45745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76200" dist="381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19088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職員が希望を入力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19088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スマートフォンから希望休と勤務区分を登録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17570" y="1645920"/>
            <a:ext cx="245745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76200" dist="381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91890" y="1874520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9189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91890" y="2395728"/>
            <a:ext cx="19088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制約を満たす解を自動生成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91890" y="3017520"/>
            <a:ext cx="19088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人員配置基準・労働基準法・就業規則・希望を同時に充足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86500" y="1645920"/>
            <a:ext cx="245745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76200" dist="381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60820" y="1874520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6082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60820" y="2395728"/>
            <a:ext cx="19088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違反を即座に可視化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60820" y="3017520"/>
            <a:ext cx="19088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常勤換算をシフト表と同一画面に表示し、下回る日を赤で警告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55430" y="1645920"/>
            <a:ext cx="245745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76200" dist="381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29750" y="1874520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2975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29750" y="2395728"/>
            <a:ext cx="19088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実地指導用の帳票を出力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429750" y="3017520"/>
            <a:ext cx="19088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勤務形態一覧表を算定根拠つきでExcel出力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20624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F2F7F8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76200" dist="381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8680" y="434340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違反が1件でもあると、確定ボタンは押せません。
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判定は画面ではなくデータベース側の条件として書いています。アプリの分岐に頼ると、経路が増えたときに漏れます。減算リスクを抱えたシフトを職員に配ってしまう事故を、構造で防ぎます。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稼働画面　シフト表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常勤換算と基準判定を同一画面に置いています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4114800"/>
          </a:xfrm>
          <a:prstGeom prst="roundRect">
            <a:avLst>
              <a:gd name="adj" fmla="val 1333"/>
            </a:avLst>
          </a:prstGeom>
          <a:solidFill>
            <a:srgbClr val="F2F7F8"/>
          </a:solidFill>
          <a:ln w="19050">
            <a:solidFill>
              <a:srgbClr val="02809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10881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未撮影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docs/images/07_schedule_violation.png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赤いセル・違反一覧・無効化された確定ボタンが写るように撮る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横31日分をスクロールしても、職員名と日付は固定表示されます。最下段が職種別の常勤換算（実際／必要）です。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稼働画面　勤務形態一覧表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実地指導の提出様式をExcelで出力。合計と常勤換算は数式で書いています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315200" cy="3931920"/>
          </a:xfrm>
          <a:prstGeom prst="roundRect">
            <a:avLst>
              <a:gd name="adj" fmla="val 1395"/>
            </a:avLst>
          </a:prstGeom>
          <a:solidFill>
            <a:srgbClr val="F2F7F8"/>
          </a:solidFill>
          <a:ln w="19050">
            <a:solidFill>
              <a:srgbClr val="02809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7132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未撮影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docs/images/10_kinmu_keitai.png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兼務者が職種ごとに2行に分かれ、按分されていることが写るように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0" y="160020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76200" dist="381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0" y="16916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管理者は常勤換算の対象外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0" y="19842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介護保険法上の規定。職種集合から除いて自動的に除外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0" y="2615184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76200" dist="381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12480" y="270662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兼務者は職種ごとに行を分けて按分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0" y="29992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管理者が生活相談員を50％兼務なら、勤務時間の半分を算入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0" y="3630168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76200" dist="381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0" y="372160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合計と常勤換算は Excel の数式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0" y="401421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運営指導の場で担当者がセルを開いて検算できる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0" y="4645152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76200" dist="381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12480" y="473659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端数は切り上げない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0" y="5029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利用者22名なら必要常勤換算は2.4。切り上げも切り捨ても誤り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技術構成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3コンテナ／Oracle Cloud Infrastructure</a:t>
            </a:r>
            <a:endParaRPr lang="en-US" sz="1400" dirty="0"/>
          </a:p>
        </p:txBody>
      </p:sp>
      <p:pic>
        <p:nvPicPr>
          <p:cNvPr id="4" name="Image 0" descr="docs/images/00_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758952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12480" y="160020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76200" dist="381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49640" y="17099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充足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235440" y="16916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コンテナ技術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549640" y="2020824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で nginx / web / db の3コンテナ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412480" y="2660904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76200" dist="381" dir="54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549640" y="277063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充足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235440" y="275234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549640" y="308152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Cloud Infrastructure 大阪リージョン Ampere A1（Arm）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412480" y="3721608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F2F7F8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76200" dist="381" dir="54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549640" y="383133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235440" y="381304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549640" y="414223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採用しない（次のスライドで理由を述べます）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412480" y="4782312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F2F7F8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76200" dist="381" dir="540000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549640" y="489204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235440" y="48737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549640" y="520293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採用しない（IaaS上のコンテナ構成を選択）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生成AIを製品に組み込まない理由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これは機能を省いたのではなく、設計判断です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669280" cy="2148840"/>
          </a:xfrm>
          <a:prstGeom prst="roundRect">
            <a:avLst>
              <a:gd name="adj" fmla="val 3404"/>
            </a:avLst>
          </a:prstGeom>
          <a:solidFill>
            <a:srgbClr val="0F4C5C"/>
          </a:solidFill>
          <a:ln w="12700">
            <a:solidFill>
              <a:srgbClr val="1A5F72"/>
            </a:solidFill>
            <a:prstDash val="solid"/>
          </a:ln>
          <a:effectLst>
            <a:outerShdw sx="100000" sy="100000" kx="0" ky="0" algn="bl" rotWithShape="0" blurRad="76200" dist="381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116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FC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大規模言語モデル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4871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確率的に出力を生成する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制約に違反した解を、もっともらしく出力しうる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675120" y="1828800"/>
            <a:ext cx="5669280" cy="2148840"/>
          </a:xfrm>
          <a:prstGeom prst="roundRect">
            <a:avLst>
              <a:gd name="adj" fmla="val 3404"/>
            </a:avLst>
          </a:prstGeom>
          <a:solidFill>
            <a:srgbClr val="0F4C5C"/>
          </a:solidFill>
          <a:ln w="12700">
            <a:solidFill>
              <a:srgbClr val="1A5F72"/>
            </a:solidFill>
            <a:prstDash val="solid"/>
          </a:ln>
          <a:effectLst>
            <a:outerShdw sx="100000" sy="100000" kx="0" ky="0" algn="bl" rotWithShape="0" blurRad="76200" dist="381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95160" y="20116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OR-Tools CP-SAT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995160" y="24871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制約充足を決定論的に保証する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95160" y="29260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制約を満たさない解は、定義上そもそも解ではない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4251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「AIが作ったシフトが人員基準を満たしていなかった」という事故は、本ソリューションの存在意義そのものを否定します。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4846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FC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減算という金銭的損失に直結する法令適合性の判定に、確率的な出力を介在させない。技術選定の段階でその可能性を構造的に排除しました。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FC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機械学習も学習データも使いません。新規の事業所でも初日から使えます。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費用と収益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補助金も無料枠も前提としません。1米ドル165円で算定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44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76200" dist="381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55648"/>
            <a:ext cx="289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導入費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048256"/>
            <a:ext cx="289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148,000円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289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契約時一括／1事業所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14.0時間の初期作業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58640" y="1600200"/>
            <a:ext cx="3444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76200" dist="381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32960" y="1755648"/>
            <a:ext cx="289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月額利用料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32960" y="2048256"/>
            <a:ext cx="289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16,500円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632960" y="2651760"/>
            <a:ext cx="289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1事業所・月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32960" y="2926080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登録職員数は無制限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68640" y="1600200"/>
            <a:ext cx="3444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76200" dist="381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42960" y="1755648"/>
            <a:ext cx="289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年間保守費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42960" y="2048256"/>
            <a:ext cx="289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29,600円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442960" y="2651760"/>
            <a:ext cx="289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契約2年目以降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42960" y="2926080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導入費の20パーセント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0332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011680"/>
                <a:gridCol w="4846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項目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金額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根拠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インフラ原価（1事業所あたり）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220円/月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共通基盤 10,999円 ÷ 50テナント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月次の粗利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12,280円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粗利率 74.4パーセント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初期開発費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816,000円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136時間 × 6,000円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損益分岐点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4事業所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4事業所と契約した時点で初年度から黒字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インフラ原価は月額利用料の1.3パーセントに収まります。GPUを使わない設計にしたことが、この価格を成立させています。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経営者から見た投資対効果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工数削減だけで回収できます。減算回避の価値は含めていません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2603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76200" dist="381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206883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227,600円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77240" y="2450592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年間の負担額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816352"/>
            <a:ext cx="20688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月額16,500円×12＋保守29,600円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94710" y="1600200"/>
            <a:ext cx="252603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76200" dist="381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23310" y="1783080"/>
            <a:ext cx="206883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420,000円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3623310" y="2450592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管理者工数の削減効果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23310" y="2816352"/>
            <a:ext cx="20688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月14時間×2,500円×12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40780" y="1600200"/>
            <a:ext cx="252603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76200" dist="381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69380" y="1783080"/>
            <a:ext cx="206883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＋192,400円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469380" y="2450592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差引の純便益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69380" y="2816352"/>
            <a:ext cx="20688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工数削減のみで算定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86850" y="1600200"/>
            <a:ext cx="252603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76200" dist="381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15450" y="1783080"/>
            <a:ext cx="206883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6.5か月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315450" y="2450592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投資回収期間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315450" y="2816352"/>
            <a:ext cx="20688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減算回避の効果は別途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55778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76200" dist="381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4023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職員数が増えても値上がりしません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4434840"/>
          <a:ext cx="50292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737360"/>
                <a:gridCol w="173736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職員数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本製品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他社（1人400円）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20名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16,500円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8,000円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41名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16,500円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16,400円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60名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16,500円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24,000円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100名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16,500円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40,000円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6492240" y="3840480"/>
            <a:ext cx="5120640" cy="2057400"/>
          </a:xfrm>
          <a:prstGeom prst="roundRect">
            <a:avLst>
              <a:gd name="adj" fmla="val 3556"/>
            </a:avLst>
          </a:prstGeom>
          <a:solidFill>
            <a:srgbClr val="F2F7F8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76200" dist="381" dir="5400000">
              <a:srgbClr val="000000">
                <a:alpha val="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766560" y="4023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営業の方針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766560" y="4434840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職員41名を境に価格優位へ転じます。小規模事業所には価格では勝てませんが、1名の欠員が基準充足に直結するため減算リスクは小規模ほど高い。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価格で勝てる領域と、価値で勝てる領域を分けて提案します。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クラウド上で稼働している証拠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Cloud Infrastructure の Ampere A1（Arm）上で動作しています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2103120"/>
          </a:xfrm>
          <a:prstGeom prst="roundRect">
            <a:avLst>
              <a:gd name="adj" fmla="val 2609"/>
            </a:avLst>
          </a:prstGeom>
          <a:solidFill>
            <a:srgbClr val="F2F7F8"/>
          </a:solidFill>
          <a:ln w="19050">
            <a:solidFill>
              <a:srgbClr val="02809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未撮影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docs/images/01_oci_instances.png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Shape=VM.Standard.A1.Flex・OCPU数・Running が写るように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1554480"/>
            <a:ext cx="5212080" cy="2103120"/>
          </a:xfrm>
          <a:prstGeom prst="roundRect">
            <a:avLst>
              <a:gd name="adj" fmla="val 2609"/>
            </a:avLst>
          </a:prstGeom>
          <a:solidFill>
            <a:srgbClr val="F2F7F8"/>
          </a:solidFill>
          <a:ln w="19050">
            <a:solidFill>
              <a:srgbClr val="02809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492240" y="155448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未撮影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docs/images/03_docker_compose_ps.png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/ web / db の3コンテナが healthy であること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5486400" cy="2103120"/>
          </a:xfrm>
          <a:prstGeom prst="roundRect">
            <a:avLst>
              <a:gd name="adj" fmla="val 2609"/>
            </a:avLst>
          </a:prstGeom>
          <a:solidFill>
            <a:srgbClr val="F2F7F8"/>
          </a:solidFill>
          <a:ln w="19050">
            <a:solidFill>
              <a:srgbClr val="02809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40080" y="379476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未撮影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docs/images/12_make_test.png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passed が読めるように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3794760"/>
            <a:ext cx="5212080" cy="2103120"/>
          </a:xfrm>
          <a:prstGeom prst="roundRect">
            <a:avLst>
              <a:gd name="adj" fmla="val 2609"/>
            </a:avLst>
          </a:prstGeom>
          <a:solidFill>
            <a:srgbClr val="F2F7F8"/>
          </a:solidFill>
          <a:ln w="19050">
            <a:solidFill>
              <a:srgbClr val="028090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492240" y="379476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未撮影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docs/images/06_schedule_ok.png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アドレスバーにパブリックIPが写るように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テスト150件　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／　制約は独立実装の監査関数で再検査　／　Excelの数式はLibreOfficeで実評価　／　全SQLをPostgreSQL 18のパーサで検証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CareShift Guard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提供するのは「シフト表」ではなく、人員配置基準に適合していることを継続的に証明できる状態です。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444240" cy="1691640"/>
          </a:xfrm>
          <a:prstGeom prst="roundRect">
            <a:avLst>
              <a:gd name="adj" fmla="val 4324"/>
            </a:avLst>
          </a:prstGeom>
          <a:solidFill>
            <a:srgbClr val="0F4C5C"/>
          </a:solidFill>
          <a:ln w="12700">
            <a:solidFill>
              <a:srgbClr val="1A5F72"/>
            </a:solidFill>
            <a:prstDash val="solid"/>
          </a:ln>
          <a:effectLst>
            <a:outerShdw sx="100000" sy="100000" kx="0" ky="0" algn="bl" rotWithShape="0" blurRad="76200" dist="381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304288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2286000"/>
            <a:ext cx="243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守りの成長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834640"/>
            <a:ext cx="2932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減算リスクを構造的に排除し、収益の下振れ要因を取り除く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58640" y="2103120"/>
            <a:ext cx="3444240" cy="1691640"/>
          </a:xfrm>
          <a:prstGeom prst="roundRect">
            <a:avLst>
              <a:gd name="adj" fmla="val 4324"/>
            </a:avLst>
          </a:prstGeom>
          <a:solidFill>
            <a:srgbClr val="0F4C5C"/>
          </a:solidFill>
          <a:ln w="12700">
            <a:solidFill>
              <a:srgbClr val="1A5F72"/>
            </a:solidFill>
            <a:prstDash val="solid"/>
          </a:ln>
          <a:effectLst>
            <a:outerShdw sx="100000" sy="100000" kx="0" ky="0" algn="bl" rotWithShape="0" blurRad="76200" dist="381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4672" y="2304288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4672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35880" y="2286000"/>
            <a:ext cx="243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人的資源の再配分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4672" y="2834640"/>
            <a:ext cx="2932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管理者の月14時間を、加算算定や職員育成へ振り向ける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68640" y="2103120"/>
            <a:ext cx="3444240" cy="1691640"/>
          </a:xfrm>
          <a:prstGeom prst="roundRect">
            <a:avLst>
              <a:gd name="adj" fmla="val 4324"/>
            </a:avLst>
          </a:prstGeom>
          <a:solidFill>
            <a:srgbClr val="0F4C5C"/>
          </a:solidFill>
          <a:ln w="12700">
            <a:solidFill>
              <a:srgbClr val="1A5F72"/>
            </a:solidFill>
            <a:prstDash val="solid"/>
          </a:ln>
          <a:effectLst>
            <a:outerShdw sx="100000" sy="100000" kx="0" ky="0" algn="bl" rotWithShape="0" blurRad="76200" dist="381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24672" y="2304288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24672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945880" y="2286000"/>
            <a:ext cx="243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事業拡大の基盤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24672" y="2834640"/>
            <a:ext cx="2932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運用ルールが定義として残り、管理者の力量に依存しない運営へ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0F4C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381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420624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リポジトリ　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https://github.com/FloatedGecko667/careshift-guard</a:t>
            </a:r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紹介動画　　　　　　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（紹介動画URL：撮影後に差し替え）</a:t>
            </a:r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デモ環境　　　　　　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（デモ環境URL：デプロイ後に差し替え）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ご清聴ありがとうございました。　学籍番号 20122049　曽我 幸太郎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CareShift Guard</dc:title>
  <dc:subject>PptxGenJS Presentation</dc:subject>
  <dc:creator>曽我 幸太郎</dc:creator>
  <cp:lastModifiedBy>曽我 幸太郎</cp:lastModifiedBy>
  <cp:revision>1</cp:revision>
  <dcterms:created xsi:type="dcterms:W3CDTF">2026-07-25T18:57:47Z</dcterms:created>
  <dcterms:modified xsi:type="dcterms:W3CDTF">2026-07-25T18:57:47Z</dcterms:modified>
</cp:coreProperties>
</file>